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0080625" cy="567055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4000" y="216000"/>
            <a:ext cx="7020000" cy="936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35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504000" y="1368000"/>
            <a:ext cx="9072000" cy="32882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4000" y="216000"/>
            <a:ext cx="7020000" cy="936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35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504000" y="1368000"/>
            <a:ext cx="907200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26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04000" y="216000"/>
            <a:ext cx="7020000" cy="936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35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504000" y="13680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2600" spc="-1" strike="noStrike"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5152680" y="13680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26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04000" y="216000"/>
            <a:ext cx="7020000" cy="936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357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504000" y="216000"/>
            <a:ext cx="7020000" cy="4340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216000"/>
            <a:ext cx="7020000" cy="936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35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504000" y="13680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26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5152680" y="13680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26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504000" y="30855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26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216000"/>
            <a:ext cx="7020000" cy="936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35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504000" y="13680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26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5152680" y="13680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26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5152680" y="30855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26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000" y="216000"/>
            <a:ext cx="7020000" cy="936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35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504000" y="13680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26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5152680" y="13680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2600" spc="-1" strike="noStrike"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body"/>
          </p:nvPr>
        </p:nvSpPr>
        <p:spPr>
          <a:xfrm>
            <a:off x="504000" y="3085560"/>
            <a:ext cx="907200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26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504000" y="216000"/>
            <a:ext cx="7020000" cy="936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35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504000" y="1368000"/>
            <a:ext cx="907200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2600" spc="-1" strike="noStrike"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504000" y="3085560"/>
            <a:ext cx="907200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26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504000" y="216000"/>
            <a:ext cx="7020000" cy="936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35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504000" y="13680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2600" spc="-1" strike="noStrike"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5152680" y="13680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2600" spc="-1" strike="noStrike"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504000" y="30855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2600" spc="-1" strike="noStrike"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5152680" y="30855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26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504000" y="216000"/>
            <a:ext cx="7020000" cy="936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35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504000" y="1368000"/>
            <a:ext cx="292104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2600" spc="-1" strike="noStrike"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3571560" y="1368000"/>
            <a:ext cx="292104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2600" spc="-1" strike="noStrike">
              <a:latin typeface="Arial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body"/>
          </p:nvPr>
        </p:nvSpPr>
        <p:spPr>
          <a:xfrm>
            <a:off x="6639120" y="1368000"/>
            <a:ext cx="292104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2600" spc="-1" strike="noStrike">
              <a:latin typeface="Arial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body"/>
          </p:nvPr>
        </p:nvSpPr>
        <p:spPr>
          <a:xfrm>
            <a:off x="504000" y="3085560"/>
            <a:ext cx="292104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2600" spc="-1" strike="noStrike">
              <a:latin typeface="Arial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 type="body"/>
          </p:nvPr>
        </p:nvSpPr>
        <p:spPr>
          <a:xfrm>
            <a:off x="3571560" y="3085560"/>
            <a:ext cx="292104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2600" spc="-1" strike="noStrike">
              <a:latin typeface="Arial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 type="body"/>
          </p:nvPr>
        </p:nvSpPr>
        <p:spPr>
          <a:xfrm>
            <a:off x="6639120" y="3085560"/>
            <a:ext cx="292104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26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" descr=""/>
          <p:cNvPicPr/>
          <p:nvPr/>
        </p:nvPicPr>
        <p:blipFill>
          <a:blip r:embed="rId2"/>
          <a:stretch/>
        </p:blipFill>
        <p:spPr>
          <a:xfrm>
            <a:off x="-58320" y="81000"/>
            <a:ext cx="7794360" cy="1205640"/>
          </a:xfrm>
          <a:prstGeom prst="rect">
            <a:avLst/>
          </a:prstGeom>
          <a:ln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504000" y="216000"/>
            <a:ext cx="7020000" cy="936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IN" sz="35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504000" y="1368000"/>
            <a:ext cx="907200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Aft>
                <a:spcPts val="1148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600" spc="-1" strike="noStrike">
                <a:latin typeface="Arial"/>
              </a:rPr>
              <a:t>Click to edit the outline text format</a:t>
            </a:r>
            <a:endParaRPr b="0" lang="en-IN" sz="2600" spc="-1" strike="noStrike">
              <a:latin typeface="Arial"/>
            </a:endParaRPr>
          </a:p>
          <a:p>
            <a:pPr lvl="1" marL="864000" indent="-324000">
              <a:spcAft>
                <a:spcPts val="918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280" spc="-1" strike="noStrike">
                <a:latin typeface="Arial"/>
              </a:rPr>
              <a:t>Second Outline Level</a:t>
            </a:r>
            <a:endParaRPr b="0" lang="en-IN" sz="2280" spc="-1" strike="noStrike">
              <a:latin typeface="Arial"/>
            </a:endParaRPr>
          </a:p>
          <a:p>
            <a:pPr lvl="2" marL="1296000" indent="-288000">
              <a:spcAft>
                <a:spcPts val="68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950" spc="-1" strike="noStrike">
                <a:latin typeface="Arial"/>
              </a:rPr>
              <a:t>Third Outline Level</a:t>
            </a:r>
            <a:endParaRPr b="0" lang="en-IN" sz="1950" spc="-1" strike="noStrike">
              <a:latin typeface="Arial"/>
            </a:endParaRPr>
          </a:p>
          <a:p>
            <a:pPr lvl="3" marL="1728000" indent="-216000">
              <a:spcAft>
                <a:spcPts val="459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629" spc="-1" strike="noStrike">
                <a:latin typeface="Arial"/>
              </a:rPr>
              <a:t>Fourth Outline Level</a:t>
            </a:r>
            <a:endParaRPr b="0" lang="en-IN" sz="1629" spc="-1" strike="noStrike">
              <a:latin typeface="Arial"/>
            </a:endParaRPr>
          </a:p>
          <a:p>
            <a:pPr lvl="4" marL="2160000" indent="-216000">
              <a:spcAft>
                <a:spcPts val="23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629" spc="-1" strike="noStrike">
                <a:latin typeface="Arial"/>
              </a:rPr>
              <a:t>Fifth Outline Level</a:t>
            </a:r>
            <a:endParaRPr b="0" lang="en-IN" sz="1629" spc="-1" strike="noStrike">
              <a:latin typeface="Arial"/>
            </a:endParaRPr>
          </a:p>
          <a:p>
            <a:pPr lvl="5" marL="2592000" indent="-216000">
              <a:spcAft>
                <a:spcPts val="23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629" spc="-1" strike="noStrike">
                <a:latin typeface="Arial"/>
              </a:rPr>
              <a:t>Sixth Outline Level</a:t>
            </a:r>
            <a:endParaRPr b="0" lang="en-IN" sz="1629" spc="-1" strike="noStrike">
              <a:latin typeface="Arial"/>
            </a:endParaRPr>
          </a:p>
          <a:p>
            <a:pPr lvl="6" marL="3024000" indent="-216000">
              <a:spcAft>
                <a:spcPts val="23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629" spc="-1" strike="noStrike">
                <a:latin typeface="Arial"/>
              </a:rPr>
              <a:t>Seventh Outline Level</a:t>
            </a:r>
            <a:endParaRPr b="0" lang="en-IN" sz="1629" spc="-1" strike="noStrike">
              <a:latin typeface="Arial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/>
          </p:nvPr>
        </p:nvSpPr>
        <p:spPr>
          <a:xfrm>
            <a:off x="504000" y="5164920"/>
            <a:ext cx="2348280" cy="3906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IN" sz="1400" spc="-1" strike="noStrike">
                <a:latin typeface="Arial"/>
              </a:rPr>
              <a:t>&lt;date/time&gt;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/>
          </p:nvPr>
        </p:nvSpPr>
        <p:spPr>
          <a:xfrm>
            <a:off x="3447000" y="5164920"/>
            <a:ext cx="3195000" cy="3906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ctr"/>
            <a:r>
              <a:rPr b="0" lang="en-IN" sz="1400" spc="-1" strike="noStrike">
                <a:latin typeface="Arial"/>
              </a:rPr>
              <a:t>&lt;footer&gt;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/>
          </p:nvPr>
        </p:nvSpPr>
        <p:spPr>
          <a:xfrm>
            <a:off x="7227000" y="5164920"/>
            <a:ext cx="2348280" cy="3906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r"/>
            <a:fld id="{F9F7E3BA-98E5-4DFD-A433-306C8BC456E8}" type="slidenum">
              <a:rPr b="0" lang="en-IN" sz="1400" spc="-1" strike="noStrike">
                <a:latin typeface="Arial"/>
              </a:rPr>
              <a:t>&lt;number&gt;</a:t>
            </a:fld>
            <a:endParaRPr b="0" lang="en-IN" sz="14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Shape 1"/>
          <p:cNvSpPr txBox="1"/>
          <p:nvPr/>
        </p:nvSpPr>
        <p:spPr>
          <a:xfrm>
            <a:off x="504000" y="216000"/>
            <a:ext cx="7020000" cy="93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Title 1</a:t>
            </a:r>
            <a:endParaRPr b="0" lang="en-IN" sz="35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TextShape 2"/>
          <p:cNvSpPr txBox="1"/>
          <p:nvPr/>
        </p:nvSpPr>
        <p:spPr>
          <a:xfrm>
            <a:off x="504000" y="1368000"/>
            <a:ext cx="907200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>
              <a:spcAft>
                <a:spcPts val="1701"/>
              </a:spcAft>
            </a:pPr>
            <a:r>
              <a:rPr b="0" lang="en-IN" sz="3200" spc="-1" strike="noStrike">
                <a:latin typeface="Arial"/>
              </a:rPr>
              <a:t>Object Detection using Computer Vision</a:t>
            </a:r>
            <a:endParaRPr b="0" lang="en-IN" sz="3200" spc="-1" strike="noStrike">
              <a:latin typeface="Arial"/>
            </a:endParaRPr>
          </a:p>
          <a:p>
            <a:pPr algn="ctr">
              <a:spcAft>
                <a:spcPts val="1701"/>
              </a:spcAft>
            </a:pPr>
            <a:r>
              <a:rPr b="0" lang="en-IN" sz="3200" spc="-1" strike="noStrike">
                <a:latin typeface="Arial"/>
              </a:rPr>
              <a:t>Name – Soham Kulkarni TECOB58</a:t>
            </a:r>
            <a:endParaRPr b="0" lang="en-IN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Shape 1"/>
          <p:cNvSpPr txBox="1"/>
          <p:nvPr/>
        </p:nvSpPr>
        <p:spPr>
          <a:xfrm>
            <a:off x="504000" y="216000"/>
            <a:ext cx="7020000" cy="93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YOLO and People Detection</a:t>
            </a:r>
            <a:endParaRPr b="0" lang="en-IN" sz="35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Shape 2"/>
          <p:cNvSpPr txBox="1"/>
          <p:nvPr/>
        </p:nvSpPr>
        <p:spPr>
          <a:xfrm>
            <a:off x="504000" y="1368000"/>
            <a:ext cx="907200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 fontScale="91000"/>
          </a:bodyPr>
          <a:p>
            <a:pPr marL="432000" indent="-324000">
              <a:spcAft>
                <a:spcPts val="1148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600" spc="-1" strike="noStrike">
                <a:latin typeface="Arial"/>
              </a:rPr>
              <a:t>YOLO is renowned for its exceptional speed. Unlike traditional two-stage object detectors (like Faster R-CNN) that first propose regions of interest and then classify them, YOLO processes the entire image in a single pass through its neural network.</a:t>
            </a:r>
            <a:endParaRPr b="0" lang="en-IN" sz="2600" spc="-1" strike="noStrike">
              <a:latin typeface="Arial"/>
            </a:endParaRPr>
          </a:p>
          <a:p>
            <a:pPr marL="432000" indent="-324000">
              <a:spcAft>
                <a:spcPts val="1148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600" spc="-1" strike="noStrike">
                <a:latin typeface="Arial"/>
              </a:rPr>
              <a:t>By analyzing the entire image at once, YOLO uses the global context to make predictions. This allows it to learn more about the surrounding scene and the relationships between objects.</a:t>
            </a:r>
            <a:endParaRPr b="0" lang="en-IN" sz="2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Shape 1"/>
          <p:cNvSpPr txBox="1"/>
          <p:nvPr/>
        </p:nvSpPr>
        <p:spPr>
          <a:xfrm>
            <a:off x="504000" y="216000"/>
            <a:ext cx="7020000" cy="93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Crowd Density Estimation</a:t>
            </a:r>
            <a:endParaRPr b="0" lang="en-IN" sz="35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Shape 2"/>
          <p:cNvSpPr txBox="1"/>
          <p:nvPr/>
        </p:nvSpPr>
        <p:spPr>
          <a:xfrm>
            <a:off x="504000" y="1368000"/>
            <a:ext cx="907200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/>
          </a:bodyPr>
          <a:p>
            <a:pPr marL="432000" indent="-324000">
              <a:spcAft>
                <a:spcPts val="1148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600" spc="-1" strike="noStrike">
                <a:latin typeface="Arial"/>
              </a:rPr>
              <a:t>The most straightforward way YOLO is used for crowd density is through direct person detection. The model is trained to identify and put a bounding box around each individual in an image or video frame.</a:t>
            </a:r>
            <a:endParaRPr b="0" lang="en-IN" sz="2600" spc="-1" strike="noStrike">
              <a:latin typeface="Arial"/>
            </a:endParaRPr>
          </a:p>
          <a:p>
            <a:pPr marL="432000" indent="-324000">
              <a:spcAft>
                <a:spcPts val="1148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600" spc="-1" strike="noStrike">
                <a:latin typeface="Arial"/>
              </a:rPr>
              <a:t>While excellent for real-time detection, a major challenge for YOLO in very dense crowds is occlusion. When people overlap and block each other, the model may fail to detect every individual person, leading to an undercount.</a:t>
            </a:r>
            <a:endParaRPr b="0" lang="en-IN" sz="2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Shape 1"/>
          <p:cNvSpPr txBox="1"/>
          <p:nvPr/>
        </p:nvSpPr>
        <p:spPr>
          <a:xfrm>
            <a:off x="504000" y="216000"/>
            <a:ext cx="7020000" cy="93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Time based Risk Profilling</a:t>
            </a:r>
            <a:endParaRPr b="0" lang="en-IN" sz="35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TextShape 2"/>
          <p:cNvSpPr txBox="1"/>
          <p:nvPr/>
        </p:nvSpPr>
        <p:spPr>
          <a:xfrm>
            <a:off x="504000" y="1368000"/>
            <a:ext cx="907200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/>
          </a:bodyPr>
          <a:p>
            <a:pPr marL="432000" indent="-324000">
              <a:spcAft>
                <a:spcPts val="1148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600" spc="-1" strike="noStrike">
                <a:latin typeface="Arial"/>
              </a:rPr>
              <a:t>Time-based risk profiling relies on analyzing historical and real-time data to identify predictable "peak periods" where crowd density and risk are highest. </a:t>
            </a:r>
            <a:endParaRPr b="0" lang="en-IN" sz="2600" spc="-1" strike="noStrike">
              <a:latin typeface="Arial"/>
            </a:endParaRPr>
          </a:p>
          <a:p>
            <a:pPr marL="432000" indent="-324000">
              <a:spcAft>
                <a:spcPts val="1148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600" spc="-1" strike="noStrike">
                <a:latin typeface="Arial"/>
              </a:rPr>
              <a:t>This can be done by tracking crowd flow using sensors, CCTV (with object detection like YOLO), or even analyzing historical event data (e.g., ticket sales, past attendance).</a:t>
            </a:r>
            <a:endParaRPr b="0" lang="en-IN" sz="2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Shape 1"/>
          <p:cNvSpPr txBox="1"/>
          <p:nvPr/>
        </p:nvSpPr>
        <p:spPr>
          <a:xfrm>
            <a:off x="504000" y="216000"/>
            <a:ext cx="7020000" cy="93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Applications and Future Scope</a:t>
            </a:r>
            <a:endParaRPr b="0" lang="en-IN" sz="35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Shape 2"/>
          <p:cNvSpPr txBox="1"/>
          <p:nvPr/>
        </p:nvSpPr>
        <p:spPr>
          <a:xfrm>
            <a:off x="504000" y="1368000"/>
            <a:ext cx="907200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/>
          </a:bodyPr>
          <a:p>
            <a:pPr marL="432000" indent="-324000">
              <a:spcAft>
                <a:spcPts val="1148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600" spc="-1" strike="noStrike">
                <a:latin typeface="Arial"/>
              </a:rPr>
              <a:t>This is a primary application. The system can be used to manage crowds at concerts, sports stadiums, festivals, and conferences. </a:t>
            </a:r>
            <a:endParaRPr b="0" lang="en-IN" sz="2600" spc="-1" strike="noStrike">
              <a:latin typeface="Arial"/>
            </a:endParaRPr>
          </a:p>
          <a:p>
            <a:pPr marL="432000" indent="-324000">
              <a:spcAft>
                <a:spcPts val="1148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600" spc="-1" strike="noStrike">
                <a:latin typeface="Arial"/>
              </a:rPr>
              <a:t>It can provide real-time alerts to security and event staff when certain areas become too dense, allowing them to proactively open new entry/exit points, redirect foot traffic, or issue public announcements to prevent stampedes or crushes.</a:t>
            </a:r>
            <a:endParaRPr b="0" lang="en-IN" sz="2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Shape 1"/>
          <p:cNvSpPr txBox="1"/>
          <p:nvPr/>
        </p:nvSpPr>
        <p:spPr>
          <a:xfrm>
            <a:off x="504000" y="216000"/>
            <a:ext cx="7020000" cy="93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Title 2</a:t>
            </a:r>
            <a:endParaRPr b="0" lang="en-IN" sz="35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Shape 2"/>
          <p:cNvSpPr txBox="1"/>
          <p:nvPr/>
        </p:nvSpPr>
        <p:spPr>
          <a:xfrm>
            <a:off x="504000" y="1368000"/>
            <a:ext cx="907200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/>
          </a:bodyPr>
          <a:p>
            <a:pPr marL="432000" indent="-324000">
              <a:spcAft>
                <a:spcPts val="1148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IN" sz="2600" spc="-1" strike="noStrike">
              <a:latin typeface="Arial"/>
            </a:endParaRPr>
          </a:p>
          <a:p>
            <a:pPr marL="432000" indent="-324000">
              <a:spcAft>
                <a:spcPts val="1148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IN" sz="2600" spc="-1" strike="noStrike">
              <a:latin typeface="Arial"/>
            </a:endParaRPr>
          </a:p>
          <a:p>
            <a:pPr marL="432000" indent="-324000">
              <a:spcAft>
                <a:spcPts val="1148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600" spc="-1" strike="noStrike">
                <a:latin typeface="Arial"/>
              </a:rPr>
              <a:t>Intelligent Recommender Systems: The Fusion of NLP and Deep Learning</a:t>
            </a:r>
            <a:endParaRPr b="0" lang="en-IN" sz="2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Shape 1"/>
          <p:cNvSpPr txBox="1"/>
          <p:nvPr/>
        </p:nvSpPr>
        <p:spPr>
          <a:xfrm>
            <a:off x="504000" y="177840"/>
            <a:ext cx="7020000" cy="10126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The Evolution of Recommender Systems</a:t>
            </a:r>
            <a:endParaRPr b="0" lang="en-IN" sz="35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TextShape 2"/>
          <p:cNvSpPr txBox="1"/>
          <p:nvPr/>
        </p:nvSpPr>
        <p:spPr>
          <a:xfrm>
            <a:off x="504000" y="1368000"/>
            <a:ext cx="907200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/>
          </a:bodyPr>
          <a:p>
            <a:pPr marL="432000" indent="-324000">
              <a:spcAft>
                <a:spcPts val="1148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600" spc="-1" strike="noStrike">
                <a:latin typeface="Arial"/>
              </a:rPr>
              <a:t>Collaborative Filtering: "Users who liked this also liked that." Relies on user-item interaction data (ratings, purchases). Suffers from the "cold-start problem" for new users/items and can't capture nuanced preferences.</a:t>
            </a:r>
            <a:endParaRPr b="0" lang="en-IN" sz="2600" spc="-1" strike="noStrike">
              <a:latin typeface="Arial"/>
            </a:endParaRPr>
          </a:p>
          <a:p>
            <a:pPr marL="432000" indent="-324000">
              <a:spcAft>
                <a:spcPts val="1148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600" spc="-1" strike="noStrike">
                <a:latin typeface="Arial"/>
              </a:rPr>
              <a:t>Content-Based Filtering: "You liked this because it has these features." Recommends items similar to those a user has liked in the past. Limited by the quality of item metadata and struggles to discover diverse items.</a:t>
            </a:r>
            <a:endParaRPr b="0" lang="en-IN" sz="2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Shape 1"/>
          <p:cNvSpPr txBox="1"/>
          <p:nvPr/>
        </p:nvSpPr>
        <p:spPr>
          <a:xfrm>
            <a:off x="504000" y="216000"/>
            <a:ext cx="7020000" cy="93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The NLP Breakthrough</a:t>
            </a:r>
            <a:endParaRPr b="0" lang="en-IN" sz="35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TextShape 2"/>
          <p:cNvSpPr txBox="1"/>
          <p:nvPr/>
        </p:nvSpPr>
        <p:spPr>
          <a:xfrm>
            <a:off x="504000" y="1368000"/>
            <a:ext cx="907200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 fontScale="91000"/>
          </a:bodyPr>
          <a:p>
            <a:pPr marL="432000" indent="-324000">
              <a:spcAft>
                <a:spcPts val="1148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600" spc="-1" strike="noStrike">
                <a:latin typeface="Arial"/>
              </a:rPr>
              <a:t>Instead of just using static tags, NLP analyzes the rich, unstructured text associated with items and users (e.g., product reviews, movie synopses, news article bodies).</a:t>
            </a:r>
            <a:endParaRPr b="0" lang="en-IN" sz="2600" spc="-1" strike="noStrike">
              <a:latin typeface="Arial"/>
            </a:endParaRPr>
          </a:p>
          <a:p>
            <a:pPr marL="432000" indent="-324000">
              <a:spcAft>
                <a:spcPts val="1148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600" spc="-1" strike="noStrike">
                <a:latin typeface="Arial"/>
              </a:rPr>
              <a:t>NLP models (like Word2Vec, BERT) can understand the meaning and context of text, identifying nuanced relationships that simple keyword matching would miss. This allows for more accurate and context-aware recommendations, bridging the gap for new items with rich textual descriptions.</a:t>
            </a:r>
            <a:endParaRPr b="0" lang="en-IN" sz="2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Shape 1"/>
          <p:cNvSpPr txBox="1"/>
          <p:nvPr/>
        </p:nvSpPr>
        <p:spPr>
          <a:xfrm>
            <a:off x="504000" y="216000"/>
            <a:ext cx="7020000" cy="93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The Deep Learning Advantage</a:t>
            </a:r>
            <a:endParaRPr b="0" lang="en-IN" sz="35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Shape 2"/>
          <p:cNvSpPr txBox="1"/>
          <p:nvPr/>
        </p:nvSpPr>
        <p:spPr>
          <a:xfrm>
            <a:off x="504000" y="1368000"/>
            <a:ext cx="907200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/>
          </a:bodyPr>
          <a:p>
            <a:pPr marL="432000" indent="-324000">
              <a:spcAft>
                <a:spcPts val="1148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600" spc="-1" strike="noStrike">
                <a:latin typeface="Arial"/>
              </a:rPr>
              <a:t>Deep learning models, particularly neural networks, can automatically learn complex, non-linear relationships between users and items.</a:t>
            </a:r>
            <a:endParaRPr b="0" lang="en-IN" sz="2600" spc="-1" strike="noStrike">
              <a:latin typeface="Arial"/>
            </a:endParaRPr>
          </a:p>
          <a:p>
            <a:pPr marL="432000" indent="-324000">
              <a:spcAft>
                <a:spcPts val="1148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600" spc="-1" strike="noStrike">
                <a:latin typeface="Arial"/>
              </a:rPr>
              <a:t>Excellent for handling sequential data, like a user's Browse history or a series of purchases. This allows the system to not just recommend what a user likes, but also predict what they will like next based on their current session.</a:t>
            </a:r>
            <a:endParaRPr b="0" lang="en-IN" sz="2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Shape 1"/>
          <p:cNvSpPr txBox="1"/>
          <p:nvPr/>
        </p:nvSpPr>
        <p:spPr>
          <a:xfrm>
            <a:off x="504000" y="216000"/>
            <a:ext cx="7020000" cy="93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Title – 3 </a:t>
            </a:r>
            <a:endParaRPr b="0" lang="en-IN" sz="35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TextShape 2"/>
          <p:cNvSpPr txBox="1"/>
          <p:nvPr/>
        </p:nvSpPr>
        <p:spPr>
          <a:xfrm>
            <a:off x="504000" y="1368000"/>
            <a:ext cx="907200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/>
          </a:bodyPr>
          <a:p>
            <a:pPr marL="432000" indent="-324000">
              <a:spcAft>
                <a:spcPts val="1148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IN" sz="2600" spc="-1" strike="noStrike">
              <a:latin typeface="Arial"/>
            </a:endParaRPr>
          </a:p>
          <a:p>
            <a:pPr marL="432000" indent="-324000">
              <a:spcAft>
                <a:spcPts val="1148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IN" sz="2600" spc="-1" strike="noStrike">
              <a:latin typeface="Arial"/>
            </a:endParaRPr>
          </a:p>
          <a:p>
            <a:pPr marL="432000" indent="-324000">
              <a:spcAft>
                <a:spcPts val="1148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IN" sz="2600" spc="-1" strike="noStrike">
              <a:latin typeface="Arial"/>
            </a:endParaRPr>
          </a:p>
          <a:p>
            <a:pPr marL="432000" indent="-324000">
              <a:spcAft>
                <a:spcPts val="1148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600" spc="-1" strike="noStrike">
                <a:latin typeface="Arial"/>
              </a:rPr>
              <a:t>Generative Adversarial Networks (GANs)</a:t>
            </a:r>
            <a:endParaRPr b="0" lang="en-IN" sz="2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Shape 1"/>
          <p:cNvSpPr txBox="1"/>
          <p:nvPr/>
        </p:nvSpPr>
        <p:spPr>
          <a:xfrm>
            <a:off x="504000" y="216000"/>
            <a:ext cx="7020000" cy="93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Generator vs. Discriminator</a:t>
            </a:r>
            <a:endParaRPr b="0" lang="en-IN" sz="35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TextShape 2"/>
          <p:cNvSpPr txBox="1"/>
          <p:nvPr/>
        </p:nvSpPr>
        <p:spPr>
          <a:xfrm>
            <a:off x="504000" y="1368000"/>
            <a:ext cx="907200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/>
          </a:bodyPr>
          <a:p>
            <a:pPr marL="432000" indent="-324000">
              <a:spcAft>
                <a:spcPts val="1148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600" spc="-1" strike="noStrike">
                <a:latin typeface="Arial"/>
              </a:rPr>
              <a:t>The Generator (The Artist) -This is a neural network that takes random noise as input.</a:t>
            </a:r>
            <a:endParaRPr b="0" lang="en-IN" sz="2600" spc="-1" strike="noStrike">
              <a:latin typeface="Arial"/>
            </a:endParaRPr>
          </a:p>
          <a:p>
            <a:pPr marL="432000" indent="-324000">
              <a:spcAft>
                <a:spcPts val="1148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600" spc="-1" strike="noStrike">
                <a:latin typeface="Arial"/>
              </a:rPr>
              <a:t>Its sole purpose is to transform this noise into a new data sample (e.g., an image, a piece of music, a text snippet) that looks as realistic as possible.</a:t>
            </a:r>
            <a:endParaRPr b="0" lang="en-IN" sz="2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Shape 1"/>
          <p:cNvSpPr txBox="1"/>
          <p:nvPr/>
        </p:nvSpPr>
        <p:spPr>
          <a:xfrm>
            <a:off x="504000" y="216000"/>
            <a:ext cx="7020000" cy="93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The Discriminator (The Art Critic)</a:t>
            </a:r>
            <a:endParaRPr b="0" lang="en-IN" sz="35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TextShape 2"/>
          <p:cNvSpPr txBox="1"/>
          <p:nvPr/>
        </p:nvSpPr>
        <p:spPr>
          <a:xfrm>
            <a:off x="504000" y="1368000"/>
            <a:ext cx="907200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/>
          </a:bodyPr>
          <a:p>
            <a:pPr marL="432000" indent="-324000">
              <a:spcAft>
                <a:spcPts val="1148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600" spc="-1" strike="noStrike">
                <a:latin typeface="Arial"/>
              </a:rPr>
              <a:t>This is a second neural network that acts as a binary classifier.</a:t>
            </a:r>
            <a:endParaRPr b="0" lang="en-IN" sz="2600" spc="-1" strike="noStrike">
              <a:latin typeface="Arial"/>
            </a:endParaRPr>
          </a:p>
          <a:p>
            <a:pPr marL="432000" indent="-324000">
              <a:spcAft>
                <a:spcPts val="1148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600" spc="-1" strike="noStrike">
                <a:latin typeface="Arial"/>
              </a:rPr>
              <a:t>It receives two types of input: real data from the training set and "fake" data from the generator.</a:t>
            </a:r>
            <a:endParaRPr b="0" lang="en-IN" sz="2600" spc="-1" strike="noStrike">
              <a:latin typeface="Arial"/>
            </a:endParaRPr>
          </a:p>
          <a:p>
            <a:pPr marL="432000" indent="-324000">
              <a:spcAft>
                <a:spcPts val="1148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600" spc="-1" strike="noStrike">
                <a:latin typeface="Arial"/>
              </a:rPr>
              <a:t>Its job is to distinguish between the real and the fake, outputting a probability score. It's constantly trying to improve its ability to spot the forgeries.</a:t>
            </a:r>
            <a:endParaRPr b="0" lang="en-IN" sz="2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Shape 1"/>
          <p:cNvSpPr txBox="1"/>
          <p:nvPr/>
        </p:nvSpPr>
        <p:spPr>
          <a:xfrm>
            <a:off x="504000" y="216000"/>
            <a:ext cx="7020000" cy="93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The Adversarial Loop</a:t>
            </a:r>
            <a:endParaRPr b="0" lang="en-IN" sz="35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TextShape 2"/>
          <p:cNvSpPr txBox="1"/>
          <p:nvPr/>
        </p:nvSpPr>
        <p:spPr>
          <a:xfrm>
            <a:off x="504000" y="1368000"/>
            <a:ext cx="907200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/>
          </a:bodyPr>
          <a:p>
            <a:pPr marL="432000" indent="-324000">
              <a:spcAft>
                <a:spcPts val="1148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600" spc="-1" strike="noStrike">
                <a:latin typeface="Arial"/>
              </a:rPr>
              <a:t>The two networks are trained simultaneously in a continuous feedback loop.</a:t>
            </a:r>
            <a:endParaRPr b="0" lang="en-IN" sz="2600" spc="-1" strike="noStrike">
              <a:latin typeface="Arial"/>
            </a:endParaRPr>
          </a:p>
          <a:p>
            <a:pPr marL="432000" indent="-324000">
              <a:spcAft>
                <a:spcPts val="1148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600" spc="-1" strike="noStrike">
                <a:latin typeface="Arial"/>
              </a:rPr>
              <a:t>The generator's loss is based on how well it fools the discriminator, and the discriminator's loss is based on how well it correctly identifies fakes.</a:t>
            </a:r>
            <a:endParaRPr b="0" lang="en-IN" sz="2600" spc="-1" strike="noStrike">
              <a:latin typeface="Arial"/>
            </a:endParaRPr>
          </a:p>
          <a:p>
            <a:pPr marL="432000" indent="-324000">
              <a:spcAft>
                <a:spcPts val="1148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600" spc="-1" strike="noStrike">
                <a:latin typeface="Arial"/>
              </a:rPr>
              <a:t>This "game" pushes both networks to get better and better, leading to the generator creating incredibly realistic and novel content.</a:t>
            </a:r>
            <a:endParaRPr b="0" lang="en-IN" sz="2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Shape 1"/>
          <p:cNvSpPr txBox="1"/>
          <p:nvPr/>
        </p:nvSpPr>
        <p:spPr>
          <a:xfrm>
            <a:off x="504000" y="177840"/>
            <a:ext cx="7020000" cy="10126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Breakthrough Applications and Future Horizons</a:t>
            </a:r>
            <a:endParaRPr b="0" lang="en-IN" sz="35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Shape 2"/>
          <p:cNvSpPr txBox="1"/>
          <p:nvPr/>
        </p:nvSpPr>
        <p:spPr>
          <a:xfrm>
            <a:off x="504000" y="1368000"/>
            <a:ext cx="907200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/>
          </a:bodyPr>
          <a:p>
            <a:pPr marL="432000" indent="-324000">
              <a:spcAft>
                <a:spcPts val="1148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600" spc="-1" strike="noStrike">
                <a:latin typeface="Arial"/>
              </a:rPr>
              <a:t>Creating high-quality, photorealistic images of faces, </a:t>
            </a:r>
            <a:r>
              <a:rPr b="0" lang="en-IN" sz="2600" spc="-1" strike="noStrike">
                <a:latin typeface="Arial"/>
              </a:rPr>
              <a:t>landscapes, or objects that have never existed.</a:t>
            </a:r>
            <a:endParaRPr b="0" lang="en-IN" sz="2600" spc="-1" strike="noStrike">
              <a:latin typeface="Arial"/>
            </a:endParaRPr>
          </a:p>
          <a:p>
            <a:pPr marL="432000" indent="-324000">
              <a:spcAft>
                <a:spcPts val="1148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600" spc="-1" strike="noStrike">
                <a:latin typeface="Arial"/>
              </a:rPr>
              <a:t>Converting a sketch into a full-color photo, turning a day </a:t>
            </a:r>
            <a:r>
              <a:rPr b="0" lang="en-IN" sz="2600" spc="-1" strike="noStrike">
                <a:latin typeface="Arial"/>
              </a:rPr>
              <a:t>scene into a night scene, or applying an artistic style to a </a:t>
            </a:r>
            <a:r>
              <a:rPr b="0" lang="en-IN" sz="2600" spc="-1" strike="noStrike">
                <a:latin typeface="Arial"/>
              </a:rPr>
              <a:t>photograph.</a:t>
            </a:r>
            <a:endParaRPr b="0" lang="en-IN" sz="2600" spc="-1" strike="noStrike">
              <a:latin typeface="Arial"/>
            </a:endParaRPr>
          </a:p>
          <a:p>
            <a:pPr marL="432000" indent="-324000">
              <a:spcAft>
                <a:spcPts val="1148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600" spc="-1" strike="noStrike">
                <a:latin typeface="Arial"/>
              </a:rPr>
              <a:t>Synthesizing new video frames, predicting future </a:t>
            </a:r>
            <a:r>
              <a:rPr b="0" lang="en-IN" sz="2600" spc="-1" strike="noStrike">
                <a:latin typeface="Arial"/>
              </a:rPr>
              <a:t>movements, or generating 3D models from 2D images.</a:t>
            </a:r>
            <a:endParaRPr b="0" lang="en-IN" sz="2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LibreOffice/6.4.7.2$Linux_X86_64 LibreOffice_project/40$Build-2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2025-07-16T12:25:45Z</dcterms:created>
  <dc:creator/>
  <dc:description/>
  <dc:language>en-IN</dc:language>
  <cp:lastModifiedBy/>
  <dcterms:modified xsi:type="dcterms:W3CDTF">2025-07-16T12:52:37Z</dcterms:modified>
  <cp:revision>4</cp:revision>
  <dc:subject/>
  <dc:title>Bright Blue</dc:title>
</cp:coreProperties>
</file>